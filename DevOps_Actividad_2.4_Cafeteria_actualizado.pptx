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9" r:id="rId20"/>
    <p:sldId id="270" r:id="rId18"/>
    <p:sldId id="271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72600" y="914400"/>
            <a:ext cx="1828800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72600" y="1234440"/>
            <a:ext cx="1143000" cy="146304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72600" y="1554480"/>
            <a:ext cx="1554480" cy="14630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31520"/>
            <a:ext cx="6126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8F8F5"/>
                </a:solidFill>
                <a:latin typeface="Aptos"/>
              </a:rPr>
              <a:t>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508760"/>
            <a:ext cx="7772400" cy="23317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CC00"/>
                </a:solidFill>
                <a:latin typeface="Aptos"/>
              </a:rPr>
              <a:t>CALIDAD Y
SEGURIDAD
AUTOMATIZADAS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160520"/>
            <a:ext cx="71323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F8F8F5"/>
                </a:solidFill>
                <a:latin typeface="Aptos"/>
              </a:rPr>
              <a:t>JaCoCo · SonarCloud · Snyk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3152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FAFAF"/>
                </a:solidFill>
                <a:latin typeface="Aptos"/>
              </a:rPr>
              <a:t>Actividad 2.4 | Pipeline CI para una aplicación web de cafetería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77840"/>
            <a:ext cx="73152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Integración continua · Cobertura · Calidad · Seguridad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286000"/>
            <a:ext cx="210312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500" b="1" i="0">
                <a:solidFill>
                  <a:srgbClr val="FFCC00"/>
                </a:solidFill>
                <a:latin typeface="Aptos"/>
              </a:rPr>
              <a:t>02.4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971800"/>
            <a:ext cx="21945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8F8F5"/>
                </a:solidFill>
                <a:latin typeface="Aptos"/>
              </a:rPr>
              <a:t>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5394960"/>
            <a:ext cx="22860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AFAFAF"/>
                </a:solidFill>
                <a:latin typeface="Aptos"/>
              </a:rPr>
              <a:t>NEGRO / AMARILLO / BLANCO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01 · CONTEXTO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Una página web de cafetería como aplicación de referencia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3474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LA APLICACIÓN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3200400" cy="2761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Página web para una cafetería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Proyecto Java / Maven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Empaquetado en una imagen Docker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Código versionado en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347472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¿QUÉ BUSCAMOS?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3200400" cy="2761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Automatizar verificaciones en cada cambio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Detectar problemas antes de publicar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Guardar evidencias del análisis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Mejorar la confianza en cada entrega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3474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474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IDEA CENTRAL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359152"/>
            <a:ext cx="3200400" cy="27614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Que la web funcione no basta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También debemos medir pruebas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Revisar calidad del código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Identificar riesgos en dependencias e imagen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8F8F5"/>
                </a:solidFill>
                <a:latin typeface="Aptos"/>
              </a:rPr>
              <a:t>Objetivo: integrar calidad y seguridad al flujo de desarrollo, no dejarlas para el final.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02 · PREGUNTA CLAVE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Un pipeline en verde no garantiza un producto perfecto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57200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8F8F5"/>
                </a:solidFill>
                <a:latin typeface="Aptos"/>
              </a:rPr>
              <a:t>“Los tests pasan…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896112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100" b="1" i="0">
                <a:solidFill>
                  <a:srgbClr val="FFCC00"/>
                </a:solidFill>
                <a:latin typeface="Aptos"/>
              </a:rPr>
              <a:t>¿la web es de calidad y segura?”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82296" cy="1600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886200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370831"/>
            <a:ext cx="281635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Comprueban comportamientos concretos.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3749039"/>
            <a:ext cx="82296" cy="1600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3886200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4370831"/>
            <a:ext cx="281635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Muestra cuánto código fue ejecutado.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749039"/>
            <a:ext cx="3200400" cy="1600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3749039"/>
            <a:ext cx="82296" cy="1600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886200"/>
            <a:ext cx="28346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4370831"/>
            <a:ext cx="281635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8F8F5"/>
                </a:solidFill>
                <a:latin typeface="Aptos"/>
              </a:rPr>
              <a:t>Revisa código, librerías e imagen.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03 · TRES HERRAMIENTAS, TRES FUNCIONES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Se complementan: ninguna reemplaza a las otras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82296" cy="388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JaCoCo · 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9152"/>
            <a:ext cx="3200400" cy="3172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Calcula cobertura de tests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Registra líneas y ramas ejecutadas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Genera index.html y jacoco.xml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No evalúa calidad ni vulnerabilidades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82296" cy="38862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SonarCloud · EVALÚA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3200400" cy="3172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Analiza el código fuente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Detecta bugs y code smells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Revisa vulnerabilidades del código propio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Lee la cobertura desde JaCoCo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Aplica el Quality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737360"/>
            <a:ext cx="3520440" cy="38862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737360"/>
            <a:ext cx="82296" cy="38862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74519"/>
            <a:ext cx="31546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Snyk · VIGILA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5592" y="2359152"/>
            <a:ext cx="3200400" cy="31729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Escanea dependencias Maven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Revisa paquetes del SO en Docker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Identifica CVE y severidad</a:t>
            </a:r>
          </a:p>
          <a:p>
            <a:pPr>
              <a:spcAft>
                <a:spcPts val="700"/>
              </a:spcAft>
              <a:defRPr sz="1600">
                <a:solidFill>
                  <a:srgbClr val="F8F8F5"/>
                </a:solidFill>
                <a:latin typeface="Aptos"/>
              </a:defRPr>
            </a:pPr>
            <a:r>
              <a:t>•  Indica versiones corregidas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04 · ¿QUÉ ANALIZA CADA UNA?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 diferencia clave está en el objeto que revisa cada herramienta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65960" cy="502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828800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0F0F"/>
                </a:solidFill>
                <a:latin typeface="Aptos"/>
              </a:rPr>
              <a:t>ASPECTO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737360"/>
            <a:ext cx="2651760" cy="502920"/>
          </a:xfrm>
          <a:prstGeom prst="round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828800"/>
            <a:ext cx="250545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8F8F5"/>
                </a:solidFill>
                <a:latin typeface="Aptos"/>
              </a:rPr>
              <a:t>JaCoCo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737360"/>
            <a:ext cx="2834640" cy="502920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9552" y="1828800"/>
            <a:ext cx="268833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F0F0F"/>
                </a:solidFill>
                <a:latin typeface="Aptos"/>
              </a:rPr>
              <a:t>SonarCloud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737360"/>
            <a:ext cx="2971800" cy="502920"/>
          </a:xfrm>
          <a:prstGeom prst="roundRect">
            <a:avLst/>
          </a:prstGeom>
          <a:solidFill>
            <a:srgbClr val="37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828800"/>
            <a:ext cx="2825496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8F8F5"/>
                </a:solidFill>
                <a:latin typeface="Aptos"/>
              </a:rPr>
              <a:t>Snyk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377439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450591"/>
            <a:ext cx="17830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Pregunta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2377439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450591"/>
            <a:ext cx="2468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¿Cuánto se prueba?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2377439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450591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¿Cómo está mi código?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377439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450591"/>
            <a:ext cx="2788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¿Qué riesgos traen mis dependencias?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81527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154679"/>
            <a:ext cx="17830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Analiza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3081527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154679"/>
            <a:ext cx="2468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Ejecución de tests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081527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154679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Código fuente propio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3081527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3154679"/>
            <a:ext cx="2788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Librerías y paquetes de imagen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785615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858768"/>
            <a:ext cx="17830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Salida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3785615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858768"/>
            <a:ext cx="2468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HTML + XML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785615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858768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Bugs, smells, cobertura, Quality Gate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3785615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19" y="3858768"/>
            <a:ext cx="2788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CVE, severidad, versión corregida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489704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562856"/>
            <a:ext cx="17830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Token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4489704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562856"/>
            <a:ext cx="2468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No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4489704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4562856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SONAR_TOKEN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4489704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3919" y="4562856"/>
            <a:ext cx="2788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SNYK_TOKEN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5193792"/>
            <a:ext cx="19659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266944"/>
            <a:ext cx="17830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¿Bloquea?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0" y="5193792"/>
            <a:ext cx="265176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" y="5266944"/>
            <a:ext cx="2468879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No por sí sola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0" y="5193792"/>
            <a:ext cx="283464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0" y="5266944"/>
            <a:ext cx="265176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Sí, según Quality Gate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12480" y="5193792"/>
            <a:ext cx="2971800" cy="585216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19" y="5266944"/>
            <a:ext cx="27889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Sí, si el workflow lo configura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05 · FLUJO DE CALIDAD Y SEGURIDAD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 salida de una etapa alimenta la siguiente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404872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4320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Tests Maven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154680"/>
            <a:ext cx="1737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Ejecutan pruebas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2788920"/>
            <a:ext cx="320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404872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74320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JaCoCo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3154680"/>
            <a:ext cx="1737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Mide cobertura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788920"/>
            <a:ext cx="320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3248" y="2404872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274320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jacoco.xml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154680"/>
            <a:ext cx="1737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Reporte para herramientas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8" y="2788920"/>
            <a:ext cx="320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7" y="2404872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274320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SonarCloud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7" y="3154680"/>
            <a:ext cx="1737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Analiza código + cobertura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2788920"/>
            <a:ext cx="3200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59" y="2286000"/>
            <a:ext cx="1965960" cy="14630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76687" y="2404872"/>
            <a:ext cx="320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CC0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7" y="2743200"/>
            <a:ext cx="17373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Quality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7" y="3154680"/>
            <a:ext cx="17373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AFAFAF"/>
                </a:solidFill>
                <a:latin typeface="Aptos"/>
              </a:rPr>
              <a:t>PASSED / FAILED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343400"/>
            <a:ext cx="4754880" cy="1188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343400"/>
            <a:ext cx="82296" cy="1188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480560"/>
            <a:ext cx="43891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SNYK 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965192"/>
            <a:ext cx="4370832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8F8F5"/>
                </a:solidFill>
                <a:latin typeface="Aptos"/>
              </a:rPr>
              <a:t>Analiza CVE en las dependencias declaradas en pom.xml.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343400"/>
            <a:ext cx="4754880" cy="118872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343400"/>
            <a:ext cx="82296" cy="118872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4480560"/>
            <a:ext cx="43891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SNYK 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01968" y="4965192"/>
            <a:ext cx="4370832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8F8F5"/>
                </a:solidFill>
                <a:latin typeface="Aptos"/>
              </a:rPr>
              <a:t>Analiza paquetes de la imagen, incluido el sistema base.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06 · PIPELINE CI: 11 PASOS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El orden permite analizar antes de publicar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0136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Checkout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6712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Descarga código + historial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80136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8308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Java 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16712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Runtime del scanner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80136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78308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Tests + JaCoCo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6712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Genera cobertura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69164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7" y="180136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78308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Artefacto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16712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Guarda reporte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32186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20040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SonarCloud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58444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Analiza código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7" y="32186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320040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Snyk Maven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58444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Escanea dependencias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652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32186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20040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Build Maven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358444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Genera el .jar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310896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36607" y="321868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20040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Login DockerHub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58444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Autenticación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75887" y="468172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69080" y="466344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Build Docker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50474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Construye imagen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2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56248" y="468172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66344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Snyk Docker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0474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Escanea imagen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326880" y="4572000"/>
            <a:ext cx="2468880" cy="105156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36607" y="4681728"/>
            <a:ext cx="411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FCC00"/>
                </a:solidFill>
                <a:latin typeface="Aptos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29800" y="4663440"/>
            <a:ext cx="18288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8F8F5"/>
                </a:solidFill>
                <a:latin typeface="Aptos"/>
              </a:rPr>
              <a:t>Push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64040" y="5047488"/>
            <a:ext cx="21945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Publica imagen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CC00"/>
                </a:solidFill>
                <a:latin typeface="Aptos"/>
              </a:rPr>
              <a:t>3 → 5: Sonar necesita jacoco.xml.     9 → 10 → 11: escanear antes de publicar.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07 · CAMBIOS EN pom.xml Y main.yml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Cada ajuste tiene una razón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5349240" cy="406908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82296" cy="406908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9834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pom.xml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5029200" cy="33558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Configurar JaCoCo y el plugin de Sonar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Definir organización, proyecto y servidor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Usar compilación compatible con Java 17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Mantener dependencias y configuración Maven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406908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91640"/>
            <a:ext cx="82296" cy="406908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28800"/>
            <a:ext cx="48920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main.yml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313432"/>
            <a:ext cx="4937760" cy="33558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Checkout con fetch-depth: 0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Configurar Java 21 para el scanner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Ejecutar tests antes de SonarCloud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Añadir análisis Snyk para Maven y Docker</a:t>
            </a:r>
          </a:p>
          <a:p>
            <a:pPr>
              <a:spcAft>
                <a:spcPts val="700"/>
              </a:spcAft>
              <a:defRPr sz="1500">
                <a:solidFill>
                  <a:srgbClr val="F8F8F5"/>
                </a:solidFill>
                <a:latin typeface="Aptos"/>
              </a:defRPr>
            </a:pPr>
            <a:r>
              <a:t>•  Guardar tokens en GitHub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CC00"/>
                </a:solidFill>
                <a:latin typeface="Aptos"/>
              </a:rPr>
              <a:t>Importante: el runner puede usar JDK 21 y el proyecto compilar para Java 17.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08 · SECRETS Y CONFIGURACIÓN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Las credenciales no deben quedar escritas en el repositorio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Autentica el análisis SonarCloud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9164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1051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SONAR_PROJECT_KEY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81051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Identifica el proyecto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8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04495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SONAR_ORGANIZATION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4495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Identifica la organización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92608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304495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SNYK_TOKEN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304495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Autentica el análisis Snyk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27939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DOCKERHUB_USERNAME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27939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Usuario de DockerHub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4160520"/>
            <a:ext cx="5166360" cy="9144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4279392"/>
            <a:ext cx="22402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CC00"/>
                </a:solidFill>
                <a:latin typeface="Aptos"/>
              </a:rPr>
              <a:t>DOCKERHUB_TOKEN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279392"/>
            <a:ext cx="265176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8F8F5"/>
                </a:solidFill>
                <a:latin typeface="Aptos"/>
              </a:rPr>
              <a:t>Token con permisos adecuados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15000"/>
            <a:ext cx="100584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8F8F5"/>
                </a:solidFill>
                <a:latin typeface="Aptos"/>
              </a:rPr>
              <a:t>GITHUB_TOKEN es automático: no se crea manualmente.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09 · QUALITY GATE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El código nuevo debe cumplir condiciones mínimas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240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bugs nuevos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468880"/>
            <a:ext cx="2240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4612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vulnerabilidades nuevas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59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2240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≥ 80 %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4612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cobertura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18319" y="2148840"/>
            <a:ext cx="2514600" cy="192024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468880"/>
            <a:ext cx="224028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900" b="1" i="0">
                <a:solidFill>
                  <a:srgbClr val="FFCC00"/>
                </a:solidFill>
                <a:latin typeface="Aptos"/>
              </a:rPr>
              <a:t>&lt; 3 %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246120"/>
            <a:ext cx="2240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8F8F5"/>
                </a:solidFill>
                <a:latin typeface="Aptos"/>
              </a:rPr>
              <a:t>duplicación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800600"/>
            <a:ext cx="22860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5EBE7D"/>
                </a:solidFill>
                <a:latin typeface="Aptos"/>
              </a:rPr>
              <a:t>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39496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si cumple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800600"/>
            <a:ext cx="22860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500" b="1" i="0">
                <a:solidFill>
                  <a:srgbClr val="EB5A50"/>
                </a:solidFill>
                <a:latin typeface="Aptos"/>
              </a:rPr>
              <a:t>FAILED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394960"/>
            <a:ext cx="2286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si falla una condición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CD00"/>
                </a:solidFill>
                <a:latin typeface="Aptos"/>
              </a:defRPr>
            </a:pPr>
            <a:r>
              <a:t>DOCKERFILE, DOCKER COMPOSE E IMÁGENES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t>Cómo se construye y ejecuta la aplicación web de la cafetería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1 · Dockerfile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Receta para construir la imagen.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Define imagen base, dependencias y archivos.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Incluye el comando de inicio de la aplicación.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Se usa con `docker build` o desde Compose.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2 · Imagen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Es el paquete construido a partir del Dockerfile.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Contiene la aplicación y su entorno.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Se puede etiquetar con versión.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Luego se ejecuta como contenedor.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20440" cy="1874519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456" y="1527048"/>
            <a:ext cx="324612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3 · 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1947672"/>
            <a:ext cx="3246120" cy="1252727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Describe los servicios que trabajan juntos.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Configura puertos, variables y redes.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Puede definir aplicación y base de datos.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• `docker compose up --build` construye y levanta.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10972800" cy="347472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FCD00"/>
                </a:solidFill>
                <a:latin typeface="Aptos"/>
              </a:defRPr>
            </a:pPr>
            <a:r>
              <a:t>FLUJO DE EJECUCIÓN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Código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Archivos de la cafetería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23744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16352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9504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Dockerfile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Instrucciones de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65776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8928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Imagen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Paquete reproducible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Conecta servicios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72016" y="4434840"/>
            <a:ext cx="292608" cy="32004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64624" y="4160520"/>
            <a:ext cx="1965960" cy="1051560"/>
          </a:xfrm>
          <a:prstGeom prst="roundRect">
            <a:avLst/>
          </a:prstGeom>
          <a:solidFill>
            <a:srgbClr val="232323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37776" y="4288536"/>
            <a:ext cx="1819656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500" b="1">
                <a:solidFill>
                  <a:srgbClr val="FFCD00"/>
                </a:solidFill>
                <a:latin typeface="Aptos"/>
              </a:defRPr>
            </a:pPr>
            <a:r>
              <a:t>Contenedores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776" y="4645152"/>
            <a:ext cx="1819656" cy="4114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Aplicación en ejecución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59552"/>
            <a:ext cx="10789920" cy="56692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Importante: una imagen no es lo mismo que un contenedor. La imagen es la plantilla; el contenedor es la instancia que se ejecuta.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510528"/>
            <a:ext cx="10881360" cy="20116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EBEBE"/>
                </a:solidFill>
                <a:latin typeface="Aptos"/>
              </a:defRPr>
            </a:pPr>
            <a:r>
              <a:t>DEVOPS · ACTIVIDAD 2.4 · CAFETERÍA                            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2600" b="1">
                <a:solidFill>
                  <a:srgbClr val="FFCD00"/>
                </a:solidFill>
                <a:latin typeface="Aptos"/>
              </a:defRPr>
            </a:pPr>
            <a:r>
              <a:t>CÓMO SE CONECTA TODO 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881360" cy="36576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Cada archivo y herramienta tiene una responsabilidad distinta, pero forman una sola cadena de validación.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Código +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38528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3976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9696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main.yml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024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472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pom.xml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58968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4688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JaCoCo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Cobertura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41464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SonarCloud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87183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59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0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Snyk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Vulnerabilidades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1007" y="1847088"/>
            <a:ext cx="182880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506455" y="1508760"/>
            <a:ext cx="1536192" cy="1024128"/>
          </a:xfrm>
          <a:prstGeom prst="roundRect">
            <a:avLst/>
          </a:prstGeom>
          <a:solidFill>
            <a:srgbClr val="232323"/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52176" y="1664208"/>
            <a:ext cx="1444751" cy="27432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300" b="1">
                <a:solidFill>
                  <a:srgbClr val="FFCD00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52176" y="2011680"/>
            <a:ext cx="1444751" cy="29260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FFFFFF"/>
                </a:solidFill>
                <a:latin typeface="Aptos"/>
              </a:defRPr>
            </a:pPr>
            <a:r>
              <a:t>Build / imagen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ARCHIVOS DE CONFIGURACIÓN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pom.xml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Declara dependencias y plugins Maven.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Ejecuta pruebas y genera el reporte JaCoCo.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main.yml / workflow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Define los pasos automáticos y su orden.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3128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ANÁLISIS AUTOMÁTICO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JaCoCo: mide cobertura de pruebas y produce XML.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SonarCloud: analiza código y recibe la cobertura para evaluar calidad.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Snyk: busca dependencias vulnerables y, si está configurado, analiza la imagen Docker.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83296" y="2971800"/>
            <a:ext cx="3566160" cy="214884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0456" y="3081528"/>
            <a:ext cx="3291840" cy="384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FFCD00"/>
                </a:solidFill>
                <a:latin typeface="Aptos"/>
              </a:defRPr>
            </a:pPr>
            <a:r>
              <a:t>CONTENEDORES Y SEGURIDAD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502152"/>
            <a:ext cx="3291840" cy="152704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Dockerfile: indica cómo construir la imagen.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docker-compose.yml: define cómo se levantan y conectan los servicios.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</a:p>
          <a:p>
            <a:pPr algn="l">
              <a:spcAft>
                <a:spcPts val="6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El workflow puede bloquear la publicación si fallan las pruebas, el Quality Gate o los controles de seguridad configurados.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CD00"/>
                </a:solidFill>
                <a:latin typeface="Aptos"/>
              </a:defRPr>
            </a:pPr>
            <a:r>
              <a:t>En resumen: GitHub activa el workflow → Maven compila y prueba → JaCoCo genera cobertura → SonarCloud evalúa calidad → Snyk revisa riesgos → Docker construye la imagen. El orden exacto depende de cómo esté configurado main.yml.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10881360" cy="201168"/>
          </a:xfrm>
          <a:prstGeom prst="rect">
            <a:avLst/>
          </a:prstGeom>
          <a:noFill/>
        </p:spPr>
        <p:txBody>
          <a:bodyPr wrap="square" lIns="73152" rIns="73152" bIns="27432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BEBEBE"/>
                </a:solidFill>
                <a:latin typeface="Aptos"/>
              </a:defRPr>
            </a:pPr>
            <a:r>
              <a:t>DEVOPS · ACTIVIDAD 2.4 · CAFETERÍA                            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CC00"/>
                </a:solidFill>
                <a:latin typeface="Aptos"/>
              </a:rPr>
              <a:t>13 · ¿CÓMO EVITAR PUBLICAR UNA IMAGEN VULNERABLE?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51560" cy="5029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7899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FAFAF"/>
                </a:solidFill>
                <a:latin typeface="Aptos"/>
              </a:rPr>
              <a:t>Control preventivo antes del docker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FAFAF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148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Construir imagen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697480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514600"/>
            <a:ext cx="2148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Ejecutar Snyk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697480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514600"/>
            <a:ext cx="2148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¿Hay Critical?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697480"/>
            <a:ext cx="36576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CC0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240280"/>
            <a:ext cx="2423160" cy="1417320"/>
          </a:xfrm>
          <a:prstGeom prst="roundRect">
            <a:avLst/>
          </a:prstGeom>
          <a:solidFill>
            <a:srgbClr val="191919"/>
          </a:solidFill>
          <a:ln>
            <a:solidFill>
              <a:srgbClr val="5EBE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514600"/>
            <a:ext cx="21488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5EBE7D"/>
                </a:solidFill>
                <a:latin typeface="Aptos"/>
              </a:rPr>
              <a:t>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971800"/>
            <a:ext cx="2148840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F8F8F5"/>
                </a:solidFill>
                <a:latin typeface="Aptos"/>
              </a:rPr>
              <a:t>Publicar solo si aprueba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343400"/>
            <a:ext cx="4754880" cy="11430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4343400"/>
            <a:ext cx="82296" cy="11430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4480560"/>
            <a:ext cx="43891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CC00"/>
                </a:solidFill>
                <a:latin typeface="Aptos"/>
              </a:rPr>
              <a:t>CAMBIO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4965192"/>
            <a:ext cx="4370832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8F5"/>
                </a:solidFill>
                <a:latin typeface="Aptos"/>
              </a:rPr>
              <a:t>Quitar continue-on-error: true en el paso Snyk correspondiente.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43400"/>
            <a:ext cx="4754880" cy="1143000"/>
          </a:xfrm>
          <a:prstGeom prst="roundRect">
            <a:avLst/>
          </a:prstGeom>
          <a:solidFill>
            <a:srgbClr val="191919"/>
          </a:solidFill>
          <a:ln>
            <a:solidFill>
              <a:srgbClr val="37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343400"/>
            <a:ext cx="82296" cy="1143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4480560"/>
            <a:ext cx="438912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8F8F5"/>
                </a:solidFill>
                <a:latin typeface="Aptos"/>
              </a:rPr>
              <a:t>RESULTADO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965192"/>
            <a:ext cx="4370832" cy="41147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8F8F5"/>
                </a:solidFill>
                <a:latin typeface="Aptos"/>
              </a:rPr>
              <a:t>Si el escaneo falla por la política configurada, el job no llega al push.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00800"/>
            <a:ext cx="41148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FAFAF"/>
                </a:solidFill>
                <a:latin typeface="Aptos"/>
              </a:rPr>
              <a:t>DEVOPS · ACTIVIDAD 2.4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